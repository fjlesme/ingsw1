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04: Requerimientos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requerimientos · Tipos y características · Obtención y análisis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y prototipado · Validación, administración y medición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8778240" cy="566928"/>
          </a:xfrm>
          <a:prstGeom prst="roundRect">
            <a:avLst>
              <a:gd name="adj" fmla="val 145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4709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 base: Pressman, Ingeniería del Software (6.ª ed.) · Sommerville, Ingeniería de Software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clase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1887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18872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requerimientos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05740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05740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requerimientos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92608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92608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los requerimientos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79476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79476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Obtención y análisis de requerimientos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66344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66344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66344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especificación de requerimientos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553212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55321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553212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 formales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clase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1887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18872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Prototipado de los requerimientos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05740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05740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construcción rápida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92608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92608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requerimientos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79476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79476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 requerimientos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66344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66344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66344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de requerimientos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requerimientos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la ingeniería de requerimientos y por qué es la actividad más crítica del proceso de software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ingeniería de requerimientos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subproceso de la ingeniería de software que ayuda a los ingenieros a entender el problema que van a resolver, antes de diseñar o construir nada.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condición o capacidad que un sistema debe tener para resolver un problema o alcanzar un objetivo del cliente.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2544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de requisitos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documento que reúne, organiza y describe formalmente todos los requerimientos acordados con el cliente.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5008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requisitos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conjunto de actividades (obtención, análisis, especificación, validación, administración) que produce esa especificación.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errores de requerimientos son los más costosos de corregir: cuanto más tarde se detectan en el proyecto, más caro sale el arreglo.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Ingeniería del Software, Cap. 7 — Ingeniería de requisitos, pp. 155–194.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El proceso de requerimientos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requerimientos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clasifican los requerimientos según qué describen y según quién los necesita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según qué describen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requerimiento cae en una de estas tres categorías, sin importar el tipo de sistema que se esté construyendo: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Describen qué debe hacer el sistema: servicios, funciones y comportamientos concretos ante ciertas entradas.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2544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funcionales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Restringen cómo debe hacerlo: desempeño, seguridad, usabilidad, disponibilidad, portabilidad, entre otros.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5008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dominio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Provienen del dominio de aplicación del sistema y reflejan características o restricciones propias de ese dominio.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requerimientos no funcionales suelen afectar al sistema como un todo, más que a una función puntual, y por eso son más difíciles de verificar.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 Complemento: Sommerville, Ingeniería de Software.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Tipos de requerimientos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según quién los necesita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de usuario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Enunciados en lenguaje natural y diagramas de las funciones y restricciones que el cliente o usuario final espera del sistema.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8620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cuando: el interlocutor son clientes, gerentes o usuarios finales sin formación técnica.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de sistema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Descripciones más detalladas y precisas de las funciones, servicios y restricciones del sistema, pensadas como base del contrato.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88620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cuando: el interlocutor son los ingenieros que van a diseñar y construir el sistema.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Sommerville, Ingeniería de Software — Ingeniería de requerimientos.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Tipos de requerimientos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los requerimientos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distingue a un buen requerimiento de uno mal escrito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cualidades de un buen requerimiento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requerimiento bien escrito debería poder evaluarse frente a estos cuatro criterios: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8890" cy="3291840"/>
          </a:xfrm>
          <a:prstGeom prst="roundRect">
            <a:avLst>
              <a:gd name="adj" fmla="val 2511"/>
            </a:avLst>
          </a:prstGeom>
          <a:solidFill>
            <a:srgbClr val="F2F4F8"/>
          </a:solidFill>
          <a:ln w="12700">
            <a:solidFill>
              <a:srgbClr val="C7CC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2745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27457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con exactitud una necesidad real del cliente, sin inventar ni omitir capacidades.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17570" y="1691640"/>
            <a:ext cx="2548890" cy="3291840"/>
          </a:xfrm>
          <a:prstGeom prst="roundRect">
            <a:avLst>
              <a:gd name="adj" fmla="val 2511"/>
            </a:avLst>
          </a:prstGeom>
          <a:solidFill>
            <a:srgbClr val="F2F4F8"/>
          </a:solidFill>
          <a:ln w="1270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473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54730" y="2377440"/>
            <a:ext cx="22745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ambiguo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54730" y="3108960"/>
            <a:ext cx="227457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una única interpretación posible para todos los que lo lean: cliente, analista y desarrollador.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95060" y="1691640"/>
            <a:ext cx="2548890" cy="3291840"/>
          </a:xfrm>
          <a:prstGeom prst="roundRect">
            <a:avLst>
              <a:gd name="adj" fmla="val 2511"/>
            </a:avLst>
          </a:prstGeom>
          <a:solidFill>
            <a:srgbClr val="F2F4F8"/>
          </a:solidFill>
          <a:ln w="12700">
            <a:solidFill>
              <a:srgbClr val="C7CC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22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32220" y="2377440"/>
            <a:ext cx="22745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32220" y="3108960"/>
            <a:ext cx="227457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toda la información necesaria para entenderlo y verificarlo, sin dejar huecos.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72550" y="1691640"/>
            <a:ext cx="2548890" cy="3291840"/>
          </a:xfrm>
          <a:prstGeom prst="roundRect">
            <a:avLst>
              <a:gd name="adj" fmla="val 2511"/>
            </a:avLst>
          </a:prstGeom>
          <a:solidFill>
            <a:srgbClr val="F2F4F8"/>
          </a:solidFill>
          <a:ln w="12700">
            <a:solidFill>
              <a:srgbClr val="C7CC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0971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09710" y="2377440"/>
            <a:ext cx="22745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Verificable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09710" y="3108960"/>
            <a:ext cx="227457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una forma práctica de comprobar, mediante pruebas o inspección, que el sistema lo cumple.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estas se suman consistencia (no contradice a otros requerimientos), prioridad y trazabilidad (se puede rastrear su origen y su implementación).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Características de los requerimientos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Obtención y análisis de requerimientos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descubren los requerimientos y cómo se organizan y negocian una vez identificados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obtención y análisis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Descubrimiento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08376" y="2514600"/>
            <a:ext cx="219456" cy="201168"/>
          </a:xfrm>
          <a:prstGeom prst="downArrow">
            <a:avLst/>
          </a:prstGeom>
          <a:solidFill>
            <a:srgbClr val="445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02736" y="178308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178308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y organización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71032" y="2834640"/>
            <a:ext cx="219456" cy="201168"/>
          </a:xfrm>
          <a:prstGeom prst="downArrow">
            <a:avLst/>
          </a:prstGeom>
          <a:solidFill>
            <a:srgbClr val="445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210312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210312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y negociación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33688" y="3154680"/>
            <a:ext cx="219456" cy="201168"/>
          </a:xfrm>
          <a:prstGeom prst="downArrow">
            <a:avLst/>
          </a:prstGeom>
          <a:solidFill>
            <a:srgbClr val="445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8048" y="2423160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28048" y="242316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y documentación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8862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rara vez es lineal: a medida que se documentan los requerimientos suelen aparecer vacíos o conflictos que obligan a volver a conversar con los interesados.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 Complemento: Sommerville, Ingeniería de Software.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Obtención y análisis de requerimientos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obtención (elicitación)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Distintas formas de acercarse a los interesados (stakeholders) para descubrir qué necesitan realmente: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Conversación guiada, abierta o estructurada, con un interesado a la vez para explorar sus necesidades.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2544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 los usuarios trabajar en su contexto real, útil para captar necesidades que no saben verbalizar.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5008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Talleres / workshops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grupales con varios interesados a la vez, para descubrir y negociar requerimientos en conjunto.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interesado conoce todos los requerimientos de antemano: obtenerlos es un proceso de descubrimiento, no de simple recolección.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Sommerville, Ingeniería de Software — Ingeniería de requerimientos.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Obtención y análisis de requerimientos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especificación de requerimientos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Distintas notaciones para dejar los requerimientos por escrito, cada una con su propio nivel de precisión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Formas de especificar un requerimiento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más informal a la más estructurada: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8890" cy="3291840"/>
          </a:xfrm>
          <a:prstGeom prst="roundRect">
            <a:avLst>
              <a:gd name="adj" fmla="val 2511"/>
            </a:avLst>
          </a:prstGeom>
          <a:solidFill>
            <a:srgbClr val="F2F4F8"/>
          </a:solidFill>
          <a:ln w="12700">
            <a:solidFill>
              <a:srgbClr val="C7CC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2745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natural estructurado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27457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Oraciones en español o inglés, siguiendo una plantilla fija de secciones y campos.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17570" y="1691640"/>
            <a:ext cx="2548890" cy="3291840"/>
          </a:xfrm>
          <a:prstGeom prst="roundRect">
            <a:avLst>
              <a:gd name="adj" fmla="val 2511"/>
            </a:avLst>
          </a:prstGeom>
          <a:solidFill>
            <a:srgbClr val="F2F4F8"/>
          </a:solidFill>
          <a:ln w="1270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473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54730" y="2377440"/>
            <a:ext cx="22745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54730" y="3108960"/>
            <a:ext cx="227457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Describen la interacción entre un actor y el sistema como una secuencia de pasos con flujos alternativos.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95060" y="1691640"/>
            <a:ext cx="2548890" cy="3291840"/>
          </a:xfrm>
          <a:prstGeom prst="roundRect">
            <a:avLst>
              <a:gd name="adj" fmla="val 2511"/>
            </a:avLst>
          </a:prstGeom>
          <a:solidFill>
            <a:srgbClr val="F2F4F8"/>
          </a:solidFill>
          <a:ln w="12700">
            <a:solidFill>
              <a:srgbClr val="C7CC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22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32220" y="2377440"/>
            <a:ext cx="22745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de usuario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32220" y="3108960"/>
            <a:ext cx="227457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Enunciados breves tipo "Como... quiero... para...", propios de metodologías ágiles.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72550" y="1691640"/>
            <a:ext cx="2548890" cy="3291840"/>
          </a:xfrm>
          <a:prstGeom prst="roundRect">
            <a:avLst>
              <a:gd name="adj" fmla="val 2511"/>
            </a:avLst>
          </a:prstGeom>
          <a:solidFill>
            <a:srgbClr val="F2F4F8"/>
          </a:solidFill>
          <a:ln w="12700">
            <a:solidFill>
              <a:srgbClr val="C7CC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0971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09710" y="2377440"/>
            <a:ext cx="22745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(UML)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09710" y="3108960"/>
            <a:ext cx="227457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Notación gráfica semiformal: casos de uso, actividad, secuencia, para complementar el texto.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excluyentes: un mismo proyecto suele combinar varias técnicas según el tipo de requerimiento y la audiencia.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· Técnicas de especificación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 formales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lenguaje natural no alcanza y se necesita una notación matemática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Especificar con notación matemática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especificación formal usa una notación con sintaxis y semántica definidas matemáticamente, sin la ambigüedad del lenguaje natural.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principal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la ambigüedad: cada enunciado tiene un único significado posible, verificable formalmente.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2544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principal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formación matemática especializada, tanto de quien la escribe como de quien la debe validar con el cliente.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5008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se justifica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sistemas críticos de seguridad (aviónica, medicina, control industrial), donde el costo de un error es extremo.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mayoría de los sistemas de negocio, el costo de una especificación formal supera su beneficio; se reserva para nichos de muy alto riesgo.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 · Especificaciones formales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7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Prototipado de los requerimientos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algo tangible para validar requerimientos que son difíciles de expresar solo con palabras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desechable y prototipo evolutivo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desechable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construye una versión rápida y parcial, típicamente solo de la interfaz, para que el cliente visualice y valide requisitos poco claros.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8620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cuando: el objetivo es aclarar requisitos ambiguos; el prototipo se descarta y no llega a producción.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evolutivo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construye una primera versión funcional del sistema, que se refina de forma incremental hasta convertirse en el producto final.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88620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cuando: los requisitos son razonablemente claros y se quiere entregar valor de forma temprana y continua.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7 · Prototipado de los requerimientos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8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construcción rápida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 prácticas para levantar un prototipo en horas o días, no en semanas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construye rápido un prototipo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técnicas priorizan la velocidad sobre la calidad final del código, porque su objetivo es aprender, no entregar producción: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automática de interfaces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que arman pantallas y formularios a partir de un modelo de datos, sin programar cada control a mano.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2544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reutilizables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Ensamblar el prototipo a partir de bibliotecas o módulos ya existentes, en lugar de programar desde cero.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5008" y="2834640"/>
            <a:ext cx="3456432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303580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Talleres conjuntos (JAD)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3520440"/>
            <a:ext cx="29992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Application Development: sesiones intensivas donde usuarios y desarrolladores construyen y ajustan el prototipo juntos, en tiempo real.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de estas técnicas es que el cliente confunda un prototipo rápido con el sistema terminado; hay que dejarlo explícito desde el principio.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8 · Técnicas de construcción rápida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9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requerimientos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Comprobar que la especificación realmente refleja lo que el cliente necesita, antes de empezar a diseñar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validación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responde a la pregunta "¿estamos construyendo el sistema correcto?", antes de invertir en diseño y desarrollo.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26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Revisiones de requisitos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9260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grupo (clientes, usuarios, ingenieros) revisa la especificación en busca de errores, omisiones y ambigüedades.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069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Prototipado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0690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prueba un prototipo y confirma o corrige los requisitos a partir de la experiencia concreta.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5212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casos de prueba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52120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 difícil diseñar una prueba para un requerimiento, es señal de que el requerimiento está mal escrito.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093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9 · Validación de requerimientos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10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 requerimientos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gestionan los cambios de requerimientos a lo largo de todo el proyecto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vida de un requerimiento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463040"/>
            <a:ext cx="10149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requerimientos cambian durante todo el proyecto: la administración de requerimientos es el conjunto de actividades que gestiona esos cambios de forma ordenada.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971446" cy="8229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3832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67558" y="3383280"/>
            <a:ext cx="1971446" cy="8229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7558" y="33832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análisis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95037" y="3383280"/>
            <a:ext cx="1971446" cy="8229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95037" y="33832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22515" y="3383280"/>
            <a:ext cx="1971446" cy="82296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22515" y="33832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base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49994" y="3383280"/>
            <a:ext cx="1971446" cy="822960"/>
          </a:xfrm>
          <a:prstGeom prst="roundRect">
            <a:avLst>
              <a:gd name="adj" fmla="val 10000"/>
            </a:avLst>
          </a:prstGeom>
          <a:solidFill>
            <a:srgbClr val="0F6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49994" y="3383280"/>
            <a:ext cx="197144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trazabilidad permite rastrear cada requerimiento desde su origen hasta el código y las pruebas que lo satisfacen.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10 · Administración de requerimientos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de requerimientos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métricas ayudan a controlar la calidad y la evolución de los requerimientos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comunes sobre requerimientos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los requerimientos ayuda a estimar esfuerzo, detectar riesgo y controlar el alcance del proyecto a lo largo del tiempo.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26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9260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requerimientos, páginas de especificación o puntos de función estimados a partir de ellos.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069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0690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Porcentaje de requerimientos que cambian por unidad de tiempo; alta volatilidad anticipa riesgo de proyecto.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5212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52120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interrelaciones y dependencias entre requerimientos, que dificultan estimar y probar el sistema.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093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7 — Ingeniería de requisitos, pp. 155–194.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11 · Medición de requerimientos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bibliográficas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Pressman, Roger 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del Software: Un Enfoque Práctico (6.ª edición)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7 — "Ingeniería de requisitos", pp. 155–194. Fuente principal de esta unidad.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8404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Sommerville, Ian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062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6344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Capítulos 4 y 5 — "Ingeniería de requerimientos" / "Especificación de requerimientos" (numeración de ediciones recientes; puede variar). Complemento de esta unidad.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sistema empieza por entender bien el problema, no por escribir código.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182112"/>
            <a:ext cx="146304" cy="146304"/>
          </a:xfrm>
          <a:prstGeom prst="ellipse">
            <a:avLst/>
          </a:prstGeom>
          <a:solidFill>
            <a:srgbClr val="9A4B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99923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ingeniería de requerimientos obtiene, analiza, especifica, valida y administra las necesidades del cliente antes de diseñar el sistema.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50792"/>
            <a:ext cx="146304" cy="146304"/>
          </a:xfrm>
          <a:prstGeom prst="ellipse">
            <a:avLst/>
          </a:prstGeom>
          <a:solidFill>
            <a:srgbClr val="9A4B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86791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funcionales, no funcionales y del dominio se obtienen con técnicas distintas (entrevistas, prototipos, talleres) y se especifican con distinto nivel de formalidad.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919472"/>
            <a:ext cx="146304" cy="146304"/>
          </a:xfrm>
          <a:prstGeom prst="ellipse">
            <a:avLst/>
          </a:prstGeom>
          <a:solidFill>
            <a:srgbClr val="9A4B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7365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Validar, administrar y medir los requerimientos a lo largo de todo el proyecto evita construir, con mucha calidad, el sistema equivocado.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paso: ejercitario de la Unidad 04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04 · Requerimientos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04: Requerimientos</dc:title>
  <dc:subject>PptxGenJS Presentation</dc:subject>
  <dc:creator>Cátedra de Ingeniería de Software I</dc:creator>
  <cp:lastModifiedBy>Cátedra de Ingeniería de Software I</cp:lastModifiedBy>
  <cp:revision>1</cp:revision>
  <dcterms:created xsi:type="dcterms:W3CDTF">2026-09-15T17:08:06Z</dcterms:created>
  <dcterms:modified xsi:type="dcterms:W3CDTF">2026-09-15T17:08:06Z</dcterms:modified>
</cp:coreProperties>
</file>