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unidad: venimos de requerimientos (qué debe hacer el sistema); ahora pasamos a decidir cómo se organiza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la diferencia conceptual/técnico: en esta unidad nos quedamos mayormente en el nivel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Unidad 04: casos de uso, clases de análisis y requerimientos no funcionales alimentan estos cuatro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alumnos un ejemplo cotidiano de cada concepto (p. ej., ocultamiento: el control remoto oculta la electrónica del televisor).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caja puede volver a refinarse. Abstracción y refinamiento son complementarios: uno sube de nivel, el otro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en la pizarra la curva de costo total (costo por módulo + costo de integración) con su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estrategias no son excluyentes: un sistema puede dividirse por dominio y, dentro de cada módulo, por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mnemotécnica: cohesión mira hacia adentro del módulo; acoplamiento mira hacia afuera.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escala de izquierda a derecha. Lógica: tareas parecidas elegidas con un parámetro. Procedimental: pasos en orden sin compartir datos. Comunicacional: operan sobre los mismos datos. Secuencial: la salida de uno es la entrada del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Estampado (por estructura): se pasa una estructura completa cuando solo se usa una parte. Externo: dependen de un formato, protocolo o dispositivo impuesto desde afuera.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MVC es en rigor un patrón de la capa de presentación, pero es tan común que conviene tratarlo junto a los estilos.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si cambiamos SQL Server por otro motor, ¿qué capas se tocan? Si agregamos una app móvil, ¿qué capas se reutilizan?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artículo "MonolithFirst" de Martin Fowler: muchos casos exitosos de microservicios empezaron como monolitos.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atributos de calidad salen de los requerimientos no funcionales de la Unidad 04: ahí está el vínculo directo entre ambas unidades.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vista responde a las preguntas de un interesado distinto. Los escenarios (casos de uso) atraviesan y validan las cuatro vistas.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FURPS fue propuesto en Hewlett-Packard. Sirve como lista de verificación al revisar un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síntomas son el puente hacia SOLID: cada principio ataca uno o más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¿cuántas razones tiene para cambiar la clase original? Cambio de motor de BD, cambio del formato del comprobante, cambio del servidor de correo, cambio de la regla de correlativas.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descuento nuevo es una clase nueva; el cálculo de la cuota no se modifica. Es también un ejemplo de inversión de dependencias.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misma matriz de trazabilidad de la Unidad 04, extendida una columna hacia el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ATAM fue desarrollado por el SEI (Carnegie Mellon). Es iterativo: se repite hasta encontrar una arquitectura aceptable.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herramientas de análisis de código (por ejemplo, las métricas de código de Visual Studio) calculan varias de estas medidas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ejemplos de apps conocidas que respeten y que violen cada regla.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el carácter iterativo: el modelo es un espiral, cada vuelta incorpora lo aprendido al validar con usuarios.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evaluación heurística consiste en recorrer la interfaz con esta lista y anotar cada violación. Tres a cinco evaluadores encuentran la mayoría de los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mismo proyector es un buen ejemplo: con bajo contraste, la mitad del aula no podría leer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identifiquen otras heurísticas aplicadas o violadas en el wireframe.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lecturas cubren los temas que no están en la 6.ª edición de Pressman (estilos actuales, SOLID, accesibilidad).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conectar con la tercera entrega del Trabajo Práctico (Diseño).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05: Diseño de Software Conceptual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fundamentales · Descomposición y modularidad · Estilos arquitectónicos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un buen diseño · Evaluación y validación · Diseño de la interfaz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9509760" cy="566928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51560" y="45720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base: Pressman, Ingeniería del Software (6.ª ed.) · Sommerville, Ingeniería de Software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 (1/2)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1887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en la ingeniería de software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057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fundamentales de diseño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26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Descomposición y modularidad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794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Cohesión y acoplamiento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663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6634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estilos arquitectónicos clásicos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532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55321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actuales y estrategia de selección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 (2/2)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1887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un buen diseño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057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26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9260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y validación del diseño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3794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interfaz de usuario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515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663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6634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Usabilidad, accesibilidad y prototipos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en la ingeniería de software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diseñar, dónde se ubica en el proceso y qué produce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diseño en la ingeniería de software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diseño de software?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es el lugar donde los requerimientos se transforman en una representación del software cuya calidad se puede evaluar antes de escribir código.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conceptual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qué componentes tendrá el sistema, qué responsabilidad cumple cada uno y cómo se relacionan. Usa el lenguaje del problema.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352544" y="260604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1144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técnico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81144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cómo se construirá cada componente: algoritmos, estructuras de datos, interfaces concretas y tecnología.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8065008" y="260604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93608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última oportunidad barata de encontrar errores: un defecto de diseño detectado en el código o en producción cuesta mucho más.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diseño, la estructura del sistema "emerge" del código: funciona… hasta que hay que cambiarlo.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Ingeniería del Software, Cap. 9 — Ingeniería del diseño.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diseño en la ingeniería de software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modelo de requerimientos al modelo de diseño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parte del modelo de requerimientos (Unidad 04) alimenta uno o más de los cuatro elementos del modelo de diseño.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3774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datos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3774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 las clases y entidades del análisis en estructuras de datos y, cuando corresponde, en el diseño de la base de datos.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27355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27355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arquitectónico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2735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los grandes bloques del sistema, cómo se comunican y qué estilo arquitectónico los organiza.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416966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1696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interfaces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416966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cómo se comunica el software con los usuarios, con otros sistemas y entre sus propios componentes.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40080" y="506577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0657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componentes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506577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Detalla la estructura interna y el comportamiento de cada componente: es el nivel más cercano al código.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(el modelo de diseño).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fundamentales de diseño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ideas que todo diseñador usa, sin importar el método ni la tecnología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Conceptos fundamentales de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conceptos de diseño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3716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1828800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Concentrarse en lo esencial e ignorar los detalles que no importan en ese nivel. Puede ser procedimental (una acción con nombre) o de datos (un objeto con nombre).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0352" y="1234440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41520" y="13716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Refinamiento progresivo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41520" y="1828800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de una descripción general y agregar detalle en pasos sucesivos, de arriba hacia abajo (Wirth).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0624" y="1234440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1792" y="13716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Ocultamiento de información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41792" y="1828800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esconde sus decisiones internas y expone solo lo necesario a través de su interfaz (Parnas).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3694176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83133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intereses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2885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 un problema complejo en partes que puedan resolverse y modificarse de forma independiente.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0352" y="3694176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41520" y="383133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42885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Soluciones probadas a problemas de diseño que se repiten en un contexto dado; dan un vocabulario común al equipo.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40624" y="3694176"/>
            <a:ext cx="3480816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41792" y="383133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Refactorización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41792" y="4288536"/>
            <a:ext cx="307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la estructura interna del diseño o del código sin cambiar su comportamiento externo (Fowler).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(conceptos de diseño).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Conceptos fundamentales de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Refinamiento progresivo en un ejemplo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tarea vista en niveles crecientes de detalle: cada paso puede volver a refinarse hasta llegar a algo implementable.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14600"/>
            <a:ext cx="10735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Inscribir alumno en una materia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36118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correlativas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3611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429000" y="36118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02152" y="36118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cupo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611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17920" y="36118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91072" y="36118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inscripción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732520" y="36118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006840" y="3611880"/>
            <a:ext cx="251460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9992" y="3611880"/>
            <a:ext cx="2368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Emitir comprobante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709160"/>
            <a:ext cx="344424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" y="4709160"/>
            <a:ext cx="329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historial del alumno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58640" y="4709160"/>
            <a:ext cx="344424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31792" y="4709160"/>
            <a:ext cx="329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plan de estudios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77200" y="4709160"/>
            <a:ext cx="344424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50352" y="4709160"/>
            <a:ext cx="3297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materias aprobadas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1 → nivel 2 → nivel 3 (refinamiento de "Verificar correlativas").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Descomposición y modularidad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dividir un sistema en partes manejables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Descomposición y modularidad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Modularidad: ni muy pocos ni demasiados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modular está dividido en componentes con nombre propio (módulos) que se integran para satisfacer los requerimientos.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5257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7249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pocos módulos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83280"/>
            <a:ext cx="470916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es grande y complejo: cuesta entenderlo, probarlo y modificarlo sin romper algo.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3891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Síntoma: un cambio pequeño obliga a revisar archivos enormes.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2468880"/>
            <a:ext cx="5257800" cy="3246120"/>
          </a:xfrm>
          <a:prstGeom prst="roundRect">
            <a:avLst>
              <a:gd name="adj" fmla="val 169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7249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Demasiados módulos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383280"/>
            <a:ext cx="470916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es simple, pero crece el esfuerzo de integrarlos y de coordinar la comunicación entre ellos.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3891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Síntoma: para seguir una funcionalidad hay que saltar por decenas de piezas.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(modularidad). Existe un punto intermedio de costo mínimo.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Descomposición y modularidad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Estrategias de descomposición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41732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 (descendente)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187452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parte de la función principal y se divide en subfunciones. Natural en sistemas orientados a procesos.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190488" y="128016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141732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Orientada a objetos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187452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identifican objetos del dominio con datos y comportamiento; el sistema es una colaboración entre ellos.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40080" y="364845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78561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capas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24281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agrupan responsabilidades por nivel de abstracción: presentación, lógica de negocio y acceso a datos.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190488" y="364845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1656" y="378561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dominio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91656" y="424281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divide según áreas del negocio (ventas, inventario, facturación). Es la base del diseño guiado por el dominio (DDD) y de los microservicios.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Caps. 9 y 10 · Sommerville, Cap. 6 — Diseño arquitectónico. Las estrategias pueden combinarse.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Cohesión y acoplamiento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criterios clave para juzgar si una descomposición es buena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Cohesión y acoplamiento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Independencia funcional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627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Cohesión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28600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qué tan relacionadas están las responsabilidades dentro de un mismo módulo. Un módulo cohesivo hace una sola cosa y la hace bien.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348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ALTA cohesión.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 hacia adentro del módulo.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627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Acoplamiento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28600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cuánto depende un módulo de otros. Con bajo acoplamiento, un cambio en un módulo casi no afecta al resto.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4348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BAJO acoplamiento.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 hacia afuera del módulo.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(independencia funcional) y Cap. 11 — Diseño en el nivel de componentes.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Cohesión y acoplamiento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cohesión: de la peor a la mejor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022130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223298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96450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05349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806517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79669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188567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389735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2887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71785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972953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6105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cacional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55003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8556171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29323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cial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938222" y="137160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0139390" y="1371600"/>
            <a:ext cx="1382050" cy="914400"/>
          </a:xfrm>
          <a:prstGeom prst="roundRect">
            <a:avLst>
              <a:gd name="adj" fmla="val 6000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12542" y="1371600"/>
            <a:ext cx="12357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2606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26060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Coincidental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0" y="2606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sin relación, agrupadas por casualidad. Ej.: un módulo "Utilidades" que formatea fechas, envía correos y calcula impuestos.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640080" y="371246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371246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3657600" y="3712464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agrupadas solo porque ocurren al mismo tiempo. Ej.: "Inicializar sistema" (abre la base, carga configuración, limpia temporales).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640080" y="4818888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481888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0" y="4818888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partes contribuyen a una única tarea bien definida. Ej.: "Calcular promedio del alumno".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11 — Diseño en el nivel de componentes (clasificación de Yourdon y Constantine).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Cohesión y acoplamiento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acoplamiento: del mejor al peor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255520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493264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6416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estampado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108704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6448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19600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control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61888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199632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72784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15072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52816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25968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Común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668256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9906000" y="1371600"/>
            <a:ext cx="1615440" cy="822960"/>
          </a:xfrm>
          <a:prstGeom prst="roundRect">
            <a:avLst>
              <a:gd name="adj" fmla="val 666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979152" y="1371600"/>
            <a:ext cx="1469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contenido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242316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2423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2423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pasan solo los datos necesarios, como parámetros simples.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640080" y="32826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32826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control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0" y="328269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módulo le pasa a otro una bandera que decide qué hace internamente el que la recibe.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640080" y="414223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41422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Común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3657600" y="41422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módulos leen y escriben las mismas variables globales: un cambio afecta a todos.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640080" y="500176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001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contenido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0" y="500176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módulo modifica o depende de los datos internos de otro: viola el ocultamiento de información.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11 — Diseño en el nivel de componentes.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estilos arquitectónicos clásicos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de alto nivel del sistema y las formas probadas de organizarla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Arquitectura y estilos arquitectónicos clásicos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arquitectura de software?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25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estructura del sistema: sus componentes, las propiedades visibles de esos componentes y las relaciones entre ellos (Bass, Clements y Kazman).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45643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representación que permite a todos los interesados discutir el sistema con un lenguaje común.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52544" y="2606040"/>
            <a:ext cx="345643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temprano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33756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 las primeras decisiones de diseño: las de mayor impacto y las más caras de revertir.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65008" y="2606040"/>
            <a:ext cx="3456432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 la calidad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337560"/>
            <a:ext cx="2999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Rendimiento, seguridad, mantenibilidad y escalabilidad dependen más de la arquitectura que del código.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10 — Creación de un diseño arquitectónico.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Arquitectura y estilos arquitectónicos clásicos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arquitectónicos clásicos (1/2)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capas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ofrece servicios a la capa superior y usa los de la inferior (presentación → negocio → datos).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 los cambios quedan localizados en una capa.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352544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Cliente-servidor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servidores ofrecen servicios (datos, impresión, cálculo) y los clientes los consumen a través de una red.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 los recursos se centralizan y se comparten.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65008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Centrado en datos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repositorio central al que acceden los demás componentes para leer, agregar o modificar información.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 los componentes no necesitan conocerse entre sí.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10 (estilos arquitectónicos) · Sommerville, Cap. 6 (patrones arquitectónicos).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Arquitectura y estilos arquitectónicos clásicos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arquitectónicos clásicos (2/2)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datos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Tuberías y filtros: los datos atraviesan una serie de componentes que los transforman uno tras otro.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compilador o un proceso por lotes.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352544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 y retorno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81144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principal invoca subprogramas que a su vez invocan a otros: estructura jerárquica.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muchos sistemas tradicionales.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65008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Modelo-Vista-Controlador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93608" y="2103120"/>
            <a:ext cx="29992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los datos (modelo), su presentación (vista) y el manejo de la interacción (controlador).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aplicaciones web con ASP.NET MVC o similares.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10 · Sommerville, Cap. 6.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Arquitectura y estilos arquitectónicos clásicos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ejemplo: sistema de inscripciones en capas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8013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y app móvil de autogestión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22402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44144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532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169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correlativas, cupos y plazos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3355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57016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6484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032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Consultas, transacciones y repositorios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4471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672584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7640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1480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Alumnos, materias, inscripciones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675120" y="1325880"/>
            <a:ext cx="4846320" cy="4462272"/>
          </a:xfrm>
          <a:prstGeom prst="roundRect">
            <a:avLst>
              <a:gd name="adj" fmla="val 123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estilo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210312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solo usa la capa inmediatamente inferior.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presentación nunca accede directo a la base de datos.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el motor de base de datos afecta solo al acceso a datos.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una app móvil reutiliza la lógica de negocio existente.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actuales y estrategia de selección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organizan muchos sistemas modernos y cómo elegir un estilo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Estilos actuales y estrategia de selección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arquitectónicos actuales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45643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Monolito modular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03120"/>
            <a:ext cx="2999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aplicación que se despliega como una unidad, pero dividida internamente en módulos con límites claros.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352544" y="1371600"/>
            <a:ext cx="345643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81144" y="2103120"/>
            <a:ext cx="2999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pequeños e independientes, cada uno con sus propios datos, que se despliegan y escalan por separado.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65008" y="1371600"/>
            <a:ext cx="3456432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 a eventos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93608" y="2103120"/>
            <a:ext cx="2999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publican eventos ("pedido creado") y otros reaccionan a ellos a través de un intermediario, sin conocerse entre sí.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 estilo "moderno" mejor en sí mismo: los microservicios agregan complejidad operativa (red, monitoreo, consistencia de datos) que solo se justifica a cierta escala.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Richards y Ford, Fundamentals of Software Architecture · Newman, Building Microservices · Fowler, "MonolithFirst".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Estilos actuales y estrategia de selección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Monolito modular frente a microservicios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2062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Monolito modular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Microservicios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Despliegue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sola unidad: simple de publicar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servicio por separado: requiere automatización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escala la aplicación completa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escala solo el servicio que lo necesita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base de datos, transacciones simples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base por servicio; la consistencia es más difícil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Complejidad operativa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Alta: red, monitoreo, trazas, fallos parciales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conviene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 chicos, dominio aún cambiante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Equipos grandes y autónomos, partes con cargas muy distintas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Newman, Building Microservices · Richards y Ford, Fundamentals of Software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Estilos actuales y estrategia de selección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selección: los atributos de calidad mandan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estilo se elige según los atributos de calidad más importantes para el sistema (los requerimientos no funcionales), no por moda.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377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377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Minimizar la comunicación entre componentes; agrupar las operaciones críticas.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05409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0540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305409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y módulos con alta cohesión y bajo acoplamiento, fáciles de reemplazar.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73075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730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37307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sin estado, microservicios o comunicación por eventos.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4074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4074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44074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con controles en los bordes y mínima superficie expuesta.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508406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50840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50840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 y componentes independientes que puedan fallar por separado.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Sommerville, Cap. 6 — Diseño arquitectónico (decisiones de diseño arquitectónico).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Estilos actuales y estrategia de selección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de la arquitectura: el modelo 4+1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4904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lógica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0116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Funcionalidad: clases y objetos clave.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usuarios y analistas.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40880" y="1325880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14904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desarrollo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20116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del código en módulos y paquetes.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programadores.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931920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de procesos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61772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en ejecución, concurrencia y comunicación.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integradores.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040880" y="3931920"/>
            <a:ext cx="4480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4096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física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461772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en servidores, redes y dispositivos.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ingenieros de sistemas.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349240" y="2697480"/>
            <a:ext cx="1463040" cy="1463040"/>
          </a:xfrm>
          <a:prstGeom prst="roundRect">
            <a:avLst>
              <a:gd name="adj" fmla="val 3750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4924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Kruchten, "The 4+1 View Model of Architecture" (1995) · Sommerville, Cap. 6.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de un buen diseño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reconocer un diseño de calidad y cómo detectar uno malo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 · Características de un buen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directrices de calidad de Pressman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diseño debe cumplir, como mínimo, estas tres condiciones: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786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los requerimientos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explícitos del modelo de requerimientos y también los implícitos que el cliente espera.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52544" y="23774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5786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legible y comprensible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quienes van a construirlo, para quienes van a probarlo y para quienes luego lo mantendrán.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65008" y="23774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5786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una visión completa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337560"/>
            <a:ext cx="2999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datos, las funciones y el comportamiento, desde la perspectiva de la implementación.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(lineamientos de calidad).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 · Características de un buen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calidad FURPS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capacidades que ofrece, generalidad de las funciones y seguridad del sistema.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23113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2311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23113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humanos, estética, consistencia y documentación.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309067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0906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09067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y gravedad de las fallas, exactitud de los resultados, capacidad de recuperación.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395020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9502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3950208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 procesamiento, tiempo de respuesta, consumo de recursos y eficiencia.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48097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80974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Soportabilidad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480974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 para extender, adaptar, probar, configurar y mantener el sistema.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(atributos de calidad).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 · Características de un buen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generales de diseño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46304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cohesión, bajo acoplamiento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2024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principio que resume la independencia funcional: módulos enfocados y poco dependientes entre sí.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190488" y="132588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1656" y="146304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KISS — Mantenerlo simple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91656" y="192024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más simple que resuelve el problema suele ser la mejor. La complejidad tiene que ganarse su lugar.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40080" y="369417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83133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— No repetirse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28853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regla o dato del sistema debe tener una única representación. Duplicar obliga a cambiar en varios lugares.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190488" y="369417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383133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YAGNI — No lo vas a necesitar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428853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diseñar funciones "por las dudas": se agregan cuando un requerimiento real las pide.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Hunt y Thomas, The Pragmatic Programmer (DRY) · Beck, Extreme Programming Explained (YAGNI).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7 · Características de un buen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de un mal diseño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4630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Rigidez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192024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simple obliga a modificar muchos módulos.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340352" y="1325880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41520" y="14630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Fragilidad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41520" y="192024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rompe partes que aparentemente no tenían relación.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40624" y="1325880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1792" y="14630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Inmovilidad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41792" y="1920240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reutilizar un componente porque arrastra demasiadas dependencias.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40080" y="3739896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87705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Viscosidad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4334256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fácil hacer "un parche" que hacer las cosas bien.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4340352" y="3739896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41520" y="387705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innecesaria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41520" y="4334256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pensadas para necesidades que nunca llegaron.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040624" y="3739896"/>
            <a:ext cx="3480816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41792" y="3877056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Repetición innecesaria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41792" y="4334256"/>
            <a:ext cx="307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lógica copiada en varios lugares del sistema.</a:t>
            </a:r>
            <a:endParaRPr lang="en-US" sz="17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Robert C. Martin, Agile Software Development: Principles, Patterns, and Practices (2002).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SOLID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principios para diseños orientados a objetos fáciles de mantener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 · Principios SOLID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en una mirada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2588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· Responsabilidad única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325880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debe tener una sola razón para cambiar.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22199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· Abierto / cerrado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21992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 a la extensión, cerrado a la modificación: se agrega comportamiento sin tocar lo que ya funciona.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11810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· Sustitución de Liskov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118104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subtipo debe poder usarse donde se espera su tipo base sin que el programa deje de funcionar.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01421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Segregación de interfaces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01421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varias interfaces pequeñas y específicas que una general que obliga a implementar métodos que no se usan.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91032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91032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Inversión de dependencias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91032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módulos de alto nivel no dependen de los de bajo nivel: ambos dependen de abstracciones.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Robert C. Martin, Agile Software Development (2002) y Clean Architecture (2017).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 · Principios SOLID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única e inversión de dependencias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627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28600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GestorInscripcion valida correlativas, guarda en SQL Server, envía el correo de confirmación y genera el PDF del comprobante.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348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razones para cambiar: cualquier cambio obliga a modificar y volver a probar la misma clase.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627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28600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ValidadorCorrelativas · IRepositorioInscripciones · INotificador · GeneradorComprobante.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GestorInscripcion solo coordina y depende de interfaces.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4348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cambiar la base de datos, o probar con un repositorio simulado, sin tocar las reglas de negocio.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Robert C. Martin, Clean Architecture (2017).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8 · Principios SOLID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Abierto / cerrado en código (C#)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3611880"/>
          </a:xfrm>
          <a:prstGeom prst="roundRect">
            <a:avLst>
              <a:gd name="adj" fmla="val 1519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463040"/>
            <a:ext cx="10332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IDescuento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decimal Aplicar(decimal monto);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DescuentoBeca : IDescuento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Aplicar(decimal monto) =&gt; monto * 0.5m;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DescuentoHermanos : IDescuento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Aplicar(decimal monto) =&gt; monto * 0.9m;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Nuevo descuento = nueva clase; CalculadoraCuota no se modifica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CalculadoraCuota recibe una lista de IDescuento y los aplica: está cerrada a la modificación, pero abierta a nuevos tipos de descuento.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y validación del diseño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comprobar que el diseño es correcto antes de construirlo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 · Evaluación y validación del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y validar el diseño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25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un diseño responde dos preguntas: ¿satisface los requerimientos? (validación) y ¿está bien construido? (verificación de su calidad).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 técnicas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Inspecciones y recorridos (walkthroughs): un grupo examina el diseño buscando errores, omisiones e inconsistencias.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52544" y="26060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33756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requerimiento debe rastrearse hasta los elementos de diseño que lo satisfacen, y cada elemento hasta su requerimiento.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65008" y="260604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33756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prototipo arquitectónico o de interfaz permite probar las decisiones más riesgosas con poco costo.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— Ingeniería del diseño y capítulos de gestión de la calidad (revisiones técnicas).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 · Evaluación y validación del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trazabilidad: requerimiento → diseño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  <a:gridCol w="57607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Elementos de diseño que lo satisfacen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RF-01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Inscribir al alumno en una materia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Inscripciones · ValidadorCorrelativas · IRepositorioInscripciones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RF-02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Consultar el historial académico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Académico · Vista Historial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RF-03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Notificar la inscripción por correo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INotificador · NotificadorCorreo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6A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RNF-01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Responder en menos de 2 segundos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Caché de la oferta académica · índices en la base de datos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C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fila sin elementos de diseño revela un requerimiento olvidado; un componente que no aparece en ninguna fila quizás sobra.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 · Evaluación y validación del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arquitecturas: método ATAM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método de análisis de compromisos arquitectónicos (ATAM) evalúa arquitecturas candidatas frente a los atributos de calidad.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Reunir escenarios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2270760" y="251460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490216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3368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Obtener requisitos y restricciones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4120896" y="251460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40352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13504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Describir estilos candidatos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5971032" y="251460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190488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Evaluar atributos de calidad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21168" y="251460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040624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13776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Identificar sensibilidades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9671304" y="251460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9890760" y="2514600"/>
            <a:ext cx="1630680" cy="13716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63912" y="2514600"/>
            <a:ext cx="1484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Criticar y elegir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Sensibilidad: cuánto cambia un atributo de calidad (por ejemplo, el rendimiento) cuando se modifica una decisión de la arquitectura.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669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10 — Creación de un diseño arquitectónico (análisis de diseños alternativos).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9 · Evaluación y validación del diseño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sencillas de diseño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Fan-in / fan-out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3716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Cuántos módulos usan a un módulo (fan-in) y cuántos usa él (fan-out). Un fan-out alto indica mucho acoplamiento.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43230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43230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cohesión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43230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LCOM: mide cuántos métodos de una clase no comparten atributos. Valores altos sugieren dividir la clase.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49300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49300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ciclomática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49300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caminos independientes en un componente: más caminos, más difícil de entender y de probar.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45537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5537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455371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Líneas, métodos o responsabilidades por clase. Una clase enorme rara vez tiene una sola responsabilidad.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capítulo de métricas del producto (métricas del modelo de diseño).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interfaz de usuario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diseñar la comunicación entre las personas y el sistema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 · Diseño de la interfaz de usuario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interfaz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3258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de interfaces define cómo fluye la información hacia el sistema, desde el sistema y entre sus propias partes.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456432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componentes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999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internos: qué operaciones ofrece cada módulo, qué recibe y qué devuelve.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52544" y="2606040"/>
            <a:ext cx="3456432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sistemas externos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3337560"/>
            <a:ext cx="2999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 con otros sistemas: servicios web, API, archivos de intercambio, pasarelas de pago.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65008" y="2606040"/>
            <a:ext cx="3456432" cy="2560320"/>
          </a:xfrm>
          <a:prstGeom prst="roundRect">
            <a:avLst>
              <a:gd name="adj" fmla="val 2143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93608" y="28072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usuario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337560"/>
            <a:ext cx="29992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Pantallas, formularios, mensajes y navegación: es lo único del sistema que el usuario ve.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9 (elementos del diseño de interfaz) y Cap. 12 — Diseño de la interfaz de usuario.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 · Diseño de la interfaz de usuario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reglas de oro (Theo Mandel)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727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el control al usuario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317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interrumpir, deshacer y elegir el camino.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obligar a acciones innecesarias.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Ocultar los detalles técnicos internos.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352544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15727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la carga de memoria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81144" y="23317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exigir recordar datos de una pantalla a otra.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Ofrecer valores por defecto útiles.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la información de forma progresiva.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65008" y="1371600"/>
            <a:ext cx="3456432" cy="43434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93608" y="15727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Lograr una interfaz consistente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93608" y="2331720"/>
            <a:ext cx="2999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la información y las acciones siempre de la misma forma.</a:t>
            </a:r>
            <a:endParaRPr lang="en-US" sz="1750" dirty="0"/>
          </a:p>
          <a:p>
            <a:pPr indent="0" marL="0">
              <a:buNone/>
            </a:pP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Respetar las convenciones que el usuario ya conoce.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12 — Diseño de la interfaz de usuario (las reglas doradas).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10 · Diseño de la interfaz de usuario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de diseño de la interfaz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258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proceso iterativo (en espiral): cada vuelta mejora la interfaz con lo aprendido al validarla con usuarios reales.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0F6A63"/>
          </a:solidFill>
          <a:ln w="19050">
            <a:solidFill>
              <a:srgbClr val="0F6A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1460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usuarios, tareas y entorno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154680" y="25146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251460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02152" y="251460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interfaz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5146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17920" y="251460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1072" y="251460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del prototipo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251460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006840" y="2514600"/>
            <a:ext cx="2514600" cy="10972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79992" y="2514600"/>
            <a:ext cx="23682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usuarios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388620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0873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52628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son, qué experiencia tienen con el dominio y con la tecnología.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4352544" y="388620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81144" y="40873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581144" y="452628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hacen, en qué orden y con qué frecuencia. Los casos de uso son el punto de partida.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8065008" y="388620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408736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8293608" y="452628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y con qué dispositivo: oficina, celular en la calle, aula con proyector, mala conexión.</a:t>
            </a:r>
            <a:endParaRPr lang="en-US" sz="16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12 — Diseño de la interfaz de usuario.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Usabilidad, accesibilidad y prototipos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evaluar una interfaz y representarla antes de construirla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 · Usabilidad, accesibilidad y prototipos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10 heurísticas de usabilidad de Nielsen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25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3258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del estado del sistema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2221992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2199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22199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entre el sistema y el mundo real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3118104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1181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11810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 libertad del usuario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40080" y="4014216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401421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01421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y estándares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4910328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9103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91032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de errores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6172200" y="132588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1325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132588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antes que recordar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6172200" y="2221992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222199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22199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Flexibilidad y eficiencia de uso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6172200" y="3118104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9360" y="31181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311810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estético y minimalista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6172200" y="4014216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401421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401421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Ayudar a reconocer y recuperarse de errores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6172200" y="4910328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09360" y="49103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91032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y documentación</a:t>
            </a:r>
            <a:endParaRPr lang="en-US" sz="16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Jakob Nielsen, "10 Usability Heuristics for User Interface Design" (1994), Nielsen Norman Group.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 · Usabilidad, accesibilidad y prototipos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Accesibilidad: diseñar para todas las personas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46304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suficiente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192024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oscuro sobre fondo claro (o al revés), legible también con poca luz o con un proyector de baja calidad.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190488" y="1325880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1463040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depender solo del color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1920240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no se marca únicamente en rojo: se acompaña con un ícono o un mensaje de texto.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40080" y="369417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83133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completo con teclado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28853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acciones deben poder hacerse sin ratón, con un orden de navegación lógico.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190488" y="3694176"/>
            <a:ext cx="53309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91656" y="3831336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y textos alternativos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91656" y="4288536"/>
            <a:ext cx="4928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campo con su etiqueta y cada imagen con su descripción, para lectores de pantalla.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W3C, Pautas de Accesibilidad para el Contenido Web (WCAG) 2.2.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 · Usabilidad, accesibilidad y prototipos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boceto al prototipo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Boceto en papel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y descartable: sirve para explorar ideas con el usuario en pocos minutos.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352544" y="137160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10312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la pantalla en escala de grises: qué elementos hay y dónde, sin colores ni estilo.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65008" y="1371600"/>
            <a:ext cx="3456432" cy="27432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93608" y="15727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interactivo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103120"/>
            <a:ext cx="29992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la navegación (Figma, Penpot o HTML simple) y permite validar tareas con usuarios reales.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434840"/>
            <a:ext cx="10735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costo, más ideas   ——————————————————→   Mayor fidelidad, más validación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12 — Diseño de la interfaz de usuario (prototipos y evaluación del diseño).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11 · Usabilidad, accesibilidad y prototipos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wireframe: inscripción a materias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4450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344168"/>
            <a:ext cx="5449824" cy="502920"/>
          </a:xfrm>
          <a:prstGeom prst="rect">
            <a:avLst/>
          </a:prstGeom>
          <a:solidFill>
            <a:srgbClr val="D9DDE7"/>
          </a:solidFill>
          <a:ln w="12700">
            <a:solidFill>
              <a:srgbClr val="D9DD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344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Autogestión · Inscripción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0116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Materias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06040" y="20116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0604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Horarios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43400" y="2011680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Confirmar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8680" y="26974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Base de Datos II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Cupo: 12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33832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Ingeniería de Software II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Cupo: 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40690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Sistemas Distribuidos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4069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correlativa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68680" y="50749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450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069080" y="50749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69080" y="5074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0" y="132588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29400" y="14356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pasos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629400" y="1856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Visibilidad del estado del sistema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400800" y="2487168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29400" y="259689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 visible en cada materia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Reconocer antes que recordar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00800" y="3648456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29400" y="37581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 sin correlativa bloqueada, con aviso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629400" y="41788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Prevención de errores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400800" y="4809744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29400" y="49194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"Cancelar" siempre disponible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629400" y="53400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Control y libertad del usuario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bibliográficas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08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Pressman, Roger 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476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del Software: Un Enfoque Práctico (6.ª edición)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Caps. 9 a 12 — Ingeniería del diseño, diseño arquitectónico, diseño en el nivel de componentes y diseño de la interfaz de usuario. Fuente principal de esta unidad.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840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793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Caps. 6 y 7 — "Diseño arquitectónico" / "Diseño e implementación" (numeración de ediciones recientes; puede variar). Complemento de esta unidad.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Lecturas complementarias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3258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C. Martin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32588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Software Development: Principles, Patterns, and Practices (2002) · Clean Architecture (2017) — SOLID y síntomas de mal diseño.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20370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2037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Richards y Ford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20370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Software Architecture (2020) — estilos arquitectónicos actuales y atributos de calidad.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08152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0815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Newman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08152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Microservices (2.ª ed., 2021) — microservicios y cuándo (no) usarlos.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95935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95935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Philippe Kruchten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39593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4+1 View Model of Architecture", IEEE Software (1995) — vistas de la arquitectura.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83717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483717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 · W3C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483717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heurísticas de usabilidad (nngroup.com) · WCAG 2.2 (w3.org/WAI) — usabilidad y accesibilidad.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05 · Diseño de Software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diseño se reconoce porque es fácil de entender, de cambiar y de usar.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182112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9A4B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29992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es descomponer el problema en módulos con alta cohesión y bajo acoplamiento, organizados según un estilo arquitectónico elegido por sus atributos de calidad.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078224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9A4B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3895344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como KISS, DRY y SOLID ayudan a evitar diseños rígidos y frágiles; revisiones, trazabilidad y ATAM permiten evaluarlos antes de construir.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9A4B0C"/>
          </a:solidFill>
          <a:ln w="12700">
            <a:solidFill>
              <a:srgbClr val="9A4B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4791456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interfaz es la parte del diseño que el usuario ve: las reglas de oro, las heurísticas y los prototipos ayudan a que sea usable y accesible.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ejercitario de la Unidad 05 y tercera entrega del Trabajo Práctico (Diseño)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05: Diseño de Software Conceptual</dc:title>
  <dc:subject>PptxGenJS Presentation</dc:subject>
  <dc:creator>Cátedra de Ingeniería de Software I — Uninorte</dc:creator>
  <cp:lastModifiedBy>Cátedra de Ingeniería de Software I — Uninorte</cp:lastModifiedBy>
  <cp:revision>1</cp:revision>
  <dcterms:created xsi:type="dcterms:W3CDTF">2026-10-14T11:23:55Z</dcterms:created>
  <dcterms:modified xsi:type="dcterms:W3CDTF">2026-10-14T11:23:55Z</dcterms:modified>
</cp:coreProperties>
</file>